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32"/>
  </p:notesMasterIdLst>
  <p:sldIdLst>
    <p:sldId id="258" r:id="rId2"/>
    <p:sldId id="289" r:id="rId3"/>
    <p:sldId id="290" r:id="rId4"/>
    <p:sldId id="260" r:id="rId5"/>
    <p:sldId id="261" r:id="rId6"/>
    <p:sldId id="262" r:id="rId7"/>
    <p:sldId id="285" r:id="rId8"/>
    <p:sldId id="286" r:id="rId9"/>
    <p:sldId id="287" r:id="rId10"/>
    <p:sldId id="263" r:id="rId11"/>
    <p:sldId id="264" r:id="rId12"/>
    <p:sldId id="266" r:id="rId13"/>
    <p:sldId id="267" r:id="rId14"/>
    <p:sldId id="268" r:id="rId15"/>
    <p:sldId id="269" r:id="rId16"/>
    <p:sldId id="270" r:id="rId17"/>
    <p:sldId id="271" r:id="rId18"/>
    <p:sldId id="272" r:id="rId19"/>
    <p:sldId id="273" r:id="rId20"/>
    <p:sldId id="274" r:id="rId21"/>
    <p:sldId id="278" r:id="rId22"/>
    <p:sldId id="275" r:id="rId23"/>
    <p:sldId id="276" r:id="rId24"/>
    <p:sldId id="279" r:id="rId25"/>
    <p:sldId id="280" r:id="rId26"/>
    <p:sldId id="281" r:id="rId27"/>
    <p:sldId id="282" r:id="rId28"/>
    <p:sldId id="283" r:id="rId29"/>
    <p:sldId id="277"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0E67C91-4D1F-4FC2-B618-7B9FC574055B}">
          <p14:sldIdLst>
            <p14:sldId id="258"/>
            <p14:sldId id="289"/>
            <p14:sldId id="290"/>
            <p14:sldId id="260"/>
            <p14:sldId id="261"/>
            <p14:sldId id="262"/>
            <p14:sldId id="285"/>
            <p14:sldId id="286"/>
            <p14:sldId id="287"/>
            <p14:sldId id="263"/>
            <p14:sldId id="264"/>
            <p14:sldId id="266"/>
            <p14:sldId id="267"/>
            <p14:sldId id="268"/>
            <p14:sldId id="269"/>
            <p14:sldId id="270"/>
            <p14:sldId id="271"/>
            <p14:sldId id="272"/>
            <p14:sldId id="273"/>
            <p14:sldId id="274"/>
            <p14:sldId id="278"/>
            <p14:sldId id="275"/>
            <p14:sldId id="276"/>
            <p14:sldId id="279"/>
            <p14:sldId id="280"/>
            <p14:sldId id="281"/>
            <p14:sldId id="282"/>
            <p14:sldId id="283"/>
            <p14:sldId id="277"/>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485E3-457B-4ED5-BA9B-88436A19FBBE}" type="datetimeFigureOut">
              <a:rPr lang="en-IN" smtClean="0"/>
              <a:t>24-02-2025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3B91D-97AB-4CE1-855A-033D22B3A47A}" type="slidenum">
              <a:rPr lang="en-IN" smtClean="0"/>
              <a:t>‹#›</a:t>
            </a:fld>
            <a:endParaRPr lang="en-IN"/>
          </a:p>
        </p:txBody>
      </p:sp>
    </p:spTree>
    <p:extLst>
      <p:ext uri="{BB962C8B-B14F-4D97-AF65-F5344CB8AC3E}">
        <p14:creationId xmlns:p14="http://schemas.microsoft.com/office/powerpoint/2010/main" val="1890353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F5F6E-FFB2-93A6-ECB8-EC776F71E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0A8B79D-0A99-E8AA-50A5-1E11911DE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7AD11A-47E9-EFEF-E4A8-F71FEA0CD401}"/>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5" name="Footer Placeholder 4">
            <a:extLst>
              <a:ext uri="{FF2B5EF4-FFF2-40B4-BE49-F238E27FC236}">
                <a16:creationId xmlns:a16="http://schemas.microsoft.com/office/drawing/2014/main" id="{B9846E4A-8B6B-882B-FAE2-1486CE0AC5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4089B1-D6E5-A8C0-3015-9754A0FF154D}"/>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959072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7ABB-E296-72C2-DA03-2C462A7C50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5FF2DA-E399-EB61-BA7D-A9F41435FD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805767-47FF-1509-A5C4-96EF3D58287B}"/>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5" name="Footer Placeholder 4">
            <a:extLst>
              <a:ext uri="{FF2B5EF4-FFF2-40B4-BE49-F238E27FC236}">
                <a16:creationId xmlns:a16="http://schemas.microsoft.com/office/drawing/2014/main" id="{E6936386-1438-5CBF-99F8-FD7C1C9F09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CB455-F1F4-DA55-26DF-B235824D0945}"/>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928017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82ED6-F134-D91E-AABA-93CD1A8E1F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AE97E0-9208-92DB-C293-E28162F914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8F18B7-6871-A8FC-D08C-7749119ED819}"/>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5" name="Footer Placeholder 4">
            <a:extLst>
              <a:ext uri="{FF2B5EF4-FFF2-40B4-BE49-F238E27FC236}">
                <a16:creationId xmlns:a16="http://schemas.microsoft.com/office/drawing/2014/main" id="{6DF3B59B-CBC1-B5C1-7EBC-6096D4459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CA452A-4CEF-29F7-D784-664A646C9501}"/>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2134175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2ACD5-2700-105B-5ECA-6425AEABDD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4B05E7-2A9E-20A3-542F-5018600C28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2887E6-EEB7-B97B-26D3-CFEECE80A4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D00BF5-64D1-65C7-3BF6-E17FA3D44170}"/>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6" name="Footer Placeholder 5">
            <a:extLst>
              <a:ext uri="{FF2B5EF4-FFF2-40B4-BE49-F238E27FC236}">
                <a16:creationId xmlns:a16="http://schemas.microsoft.com/office/drawing/2014/main" id="{069E3113-660D-F7D8-DD75-226E7B4E12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3C9A62-7CD6-A11F-F9A0-30EAB5883BCB}"/>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2864733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23F33-B338-737D-6F1E-DE4CB264BD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D465B5-200D-A26D-9D29-CFD557C42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F01823-6CD5-9D10-5D45-38D0A7AD30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E09DDD-4ED5-9C57-DEB4-2108BE4C4E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59F82E-BCA9-3393-8C94-5DD78F97C1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B023E4-EDC0-7062-A22B-876371292A01}"/>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8" name="Footer Placeholder 7">
            <a:extLst>
              <a:ext uri="{FF2B5EF4-FFF2-40B4-BE49-F238E27FC236}">
                <a16:creationId xmlns:a16="http://schemas.microsoft.com/office/drawing/2014/main" id="{A2D946FD-635F-F552-9EE4-48D8FBE92D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0CBAA8-4098-B619-6798-DAC2FF21A345}"/>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430008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DD108-0CF9-50F1-2CDA-CFF98D3637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5EF2C2-E5E1-1E17-9AD9-6F4DB4E01647}"/>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4" name="Footer Placeholder 3">
            <a:extLst>
              <a:ext uri="{FF2B5EF4-FFF2-40B4-BE49-F238E27FC236}">
                <a16:creationId xmlns:a16="http://schemas.microsoft.com/office/drawing/2014/main" id="{F8A4D202-32D0-5C0C-28BD-A9670565EA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35017B-87BB-AF2A-084E-866763F5D81B}"/>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2892248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A8D9C7-8BCC-3C10-F461-234C24380E7D}"/>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3" name="Footer Placeholder 2">
            <a:extLst>
              <a:ext uri="{FF2B5EF4-FFF2-40B4-BE49-F238E27FC236}">
                <a16:creationId xmlns:a16="http://schemas.microsoft.com/office/drawing/2014/main" id="{D5744329-B525-474F-BAC9-88EAE216A1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0DB1A3-4C21-D6B8-E982-E51D17B8D36C}"/>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175816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C09BF-ADB5-63E4-6632-34581E61B4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281514-77D6-16AA-30B7-E3FBB9A8BC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9A18911-E141-18ED-AEA8-A1472D1EB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89BDB4-846D-E9B8-AAE9-F7689E4C14E7}"/>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6" name="Footer Placeholder 5">
            <a:extLst>
              <a:ext uri="{FF2B5EF4-FFF2-40B4-BE49-F238E27FC236}">
                <a16:creationId xmlns:a16="http://schemas.microsoft.com/office/drawing/2014/main" id="{67AC3353-CC21-3D05-F45F-2B979E2AD3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726E99-149D-85C0-73E4-372DCF173B56}"/>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34293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FD25-DBBC-BFAD-1C2F-6031AEDBA8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4742AA-D9BF-6BC5-7D34-51838D65F1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7A5F0D-C125-3B6E-C61E-AFD1230EA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569B25-CF61-849A-DA69-EBD5C82EEC86}"/>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6" name="Footer Placeholder 5">
            <a:extLst>
              <a:ext uri="{FF2B5EF4-FFF2-40B4-BE49-F238E27FC236}">
                <a16:creationId xmlns:a16="http://schemas.microsoft.com/office/drawing/2014/main" id="{E3AE13CF-19C6-BEF5-23AE-70D162BD01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087B6B-0CEE-E1FA-F49F-A0116B3D7029}"/>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1159853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4ED91-49B3-0D36-254E-98F27B4378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6FB1C6-003A-CC90-6950-6E7A18C25E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988112-1607-00A6-FCBD-BE5899AF1A58}"/>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5" name="Footer Placeholder 4">
            <a:extLst>
              <a:ext uri="{FF2B5EF4-FFF2-40B4-BE49-F238E27FC236}">
                <a16:creationId xmlns:a16="http://schemas.microsoft.com/office/drawing/2014/main" id="{68DCDD02-893C-7D0F-8BBE-3920FB0FFA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72162B-D24F-E2A1-C893-2B75BE38FF35}"/>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305433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1DB5FF-D0B6-7579-3B4D-BECAC95529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204A67-F625-35AC-2E8C-1E13AABCE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B67FE4-09D1-8B94-9569-6A3CDD74AF76}"/>
              </a:ext>
            </a:extLst>
          </p:cNvPr>
          <p:cNvSpPr>
            <a:spLocks noGrp="1"/>
          </p:cNvSpPr>
          <p:nvPr>
            <p:ph type="dt" sz="half" idx="10"/>
          </p:nvPr>
        </p:nvSpPr>
        <p:spPr/>
        <p:txBody>
          <a:bodyPr/>
          <a:lstStyle/>
          <a:p>
            <a:fld id="{0B78A583-6355-4BAB-95BD-10DFB68639D9}" type="datetimeFigureOut">
              <a:rPr lang="en-IN" smtClean="0"/>
              <a:t>24-02-2025</a:t>
            </a:fld>
            <a:endParaRPr lang="en-IN"/>
          </a:p>
        </p:txBody>
      </p:sp>
      <p:sp>
        <p:nvSpPr>
          <p:cNvPr id="5" name="Footer Placeholder 4">
            <a:extLst>
              <a:ext uri="{FF2B5EF4-FFF2-40B4-BE49-F238E27FC236}">
                <a16:creationId xmlns:a16="http://schemas.microsoft.com/office/drawing/2014/main" id="{60AE2266-00D7-20FC-2BBD-102967F50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EFFDA-EE0E-AB1A-E2BD-50DCAB5BDE0E}"/>
              </a:ext>
            </a:extLst>
          </p:cNvPr>
          <p:cNvSpPr>
            <a:spLocks noGrp="1"/>
          </p:cNvSpPr>
          <p:nvPr>
            <p:ph type="sldNum" sz="quarter" idx="12"/>
          </p:nvPr>
        </p:nvSpPr>
        <p:spPr/>
        <p:txBody>
          <a:bodyPr/>
          <a:lstStyle/>
          <a:p>
            <a:fld id="{61C6FBCC-F9BA-4A08-9637-FD5DC556FD92}" type="slidenum">
              <a:rPr lang="en-IN" smtClean="0"/>
              <a:t>‹#›</a:t>
            </a:fld>
            <a:endParaRPr lang="en-IN"/>
          </a:p>
        </p:txBody>
      </p:sp>
    </p:spTree>
    <p:extLst>
      <p:ext uri="{BB962C8B-B14F-4D97-AF65-F5344CB8AC3E}">
        <p14:creationId xmlns:p14="http://schemas.microsoft.com/office/powerpoint/2010/main" val="1343896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34C106-D260-AD3C-AB25-F8BC92A94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970FCB-0711-A497-C53E-C27B211F9E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4F17F3-FA77-87F8-B217-AC21D1B2B3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78A583-6355-4BAB-95BD-10DFB68639D9}" type="datetimeFigureOut">
              <a:rPr lang="en-IN" smtClean="0"/>
              <a:t>24-02-2025</a:t>
            </a:fld>
            <a:endParaRPr lang="en-IN"/>
          </a:p>
        </p:txBody>
      </p:sp>
      <p:sp>
        <p:nvSpPr>
          <p:cNvPr id="5" name="Footer Placeholder 4">
            <a:extLst>
              <a:ext uri="{FF2B5EF4-FFF2-40B4-BE49-F238E27FC236}">
                <a16:creationId xmlns:a16="http://schemas.microsoft.com/office/drawing/2014/main" id="{B24E5321-6D55-9CC0-5C10-5FEAF7348E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35F886-2AD7-88CF-3CC9-BD551372F3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FBCC-F9BA-4A08-9637-FD5DC556FD92}" type="slidenum">
              <a:rPr lang="en-IN" smtClean="0"/>
              <a:t>‹#›</a:t>
            </a:fld>
            <a:endParaRPr lang="en-IN"/>
          </a:p>
        </p:txBody>
      </p:sp>
    </p:spTree>
    <p:extLst>
      <p:ext uri="{BB962C8B-B14F-4D97-AF65-F5344CB8AC3E}">
        <p14:creationId xmlns:p14="http://schemas.microsoft.com/office/powerpoint/2010/main" val="363003693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2ECDB1-75C7-1574-C634-D6E8D48EE1A9}"/>
              </a:ext>
            </a:extLst>
          </p:cNvPr>
          <p:cNvSpPr txBox="1"/>
          <p:nvPr/>
        </p:nvSpPr>
        <p:spPr>
          <a:xfrm>
            <a:off x="-71023" y="1798380"/>
            <a:ext cx="12192000" cy="1754326"/>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Gujarat University﻿</a:t>
            </a:r>
          </a:p>
          <a:p>
            <a:pPr algn="ctr"/>
            <a:r>
              <a:rPr lang="en-US" sz="3600" b="1" dirty="0">
                <a:latin typeface="Times New Roman" panose="02020603050405020304" pitchFamily="18" charset="0"/>
                <a:cs typeface="Times New Roman" panose="02020603050405020304" pitchFamily="18" charset="0"/>
              </a:rPr>
              <a:t>School of Emerging Science and Technology ﻿</a:t>
            </a:r>
          </a:p>
          <a:p>
            <a:pPr algn="ctr"/>
            <a:endParaRPr lang="en-IN" sz="36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31CC105-2AD1-B36C-CDD5-0BC6D5F978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2024109" cy="2137686"/>
          </a:xfrm>
          <a:prstGeom prst="rect">
            <a:avLst/>
          </a:prstGeom>
        </p:spPr>
      </p:pic>
      <p:pic>
        <p:nvPicPr>
          <p:cNvPr id="12" name="Picture 11">
            <a:extLst>
              <a:ext uri="{FF2B5EF4-FFF2-40B4-BE49-F238E27FC236}">
                <a16:creationId xmlns:a16="http://schemas.microsoft.com/office/drawing/2014/main" id="{7CD573F9-B12F-6EC3-8FFF-4EB80D889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5036" y="170345"/>
            <a:ext cx="1816964" cy="1805661"/>
          </a:xfrm>
          <a:prstGeom prst="rect">
            <a:avLst/>
          </a:prstGeom>
        </p:spPr>
      </p:pic>
      <p:sp>
        <p:nvSpPr>
          <p:cNvPr id="3" name="TextBox 2">
            <a:extLst>
              <a:ext uri="{FF2B5EF4-FFF2-40B4-BE49-F238E27FC236}">
                <a16:creationId xmlns:a16="http://schemas.microsoft.com/office/drawing/2014/main" id="{79432DD2-70A5-F0D1-524C-DB4A4254B2E3}"/>
              </a:ext>
            </a:extLst>
          </p:cNvPr>
          <p:cNvSpPr txBox="1"/>
          <p:nvPr/>
        </p:nvSpPr>
        <p:spPr>
          <a:xfrm>
            <a:off x="6506316" y="4323895"/>
            <a:ext cx="4916666" cy="1384995"/>
          </a:xfrm>
          <a:prstGeom prst="rect">
            <a:avLst/>
          </a:prstGeom>
          <a:noFill/>
        </p:spPr>
        <p:txBody>
          <a:bodyPr wrap="none" rtlCol="0">
            <a:spAutoFit/>
          </a:bodyPr>
          <a:lstStyle/>
          <a:p>
            <a:pPr algn="ctr"/>
            <a:r>
              <a:rPr lang="en-US" sz="2800" b="1" dirty="0">
                <a:latin typeface="Times New Roman" panose="02020603050405020304" pitchFamily="18" charset="0"/>
                <a:cs typeface="Times New Roman" panose="02020603050405020304" pitchFamily="18" charset="0"/>
              </a:rPr>
              <a:t>Name: Daivik Raval</a:t>
            </a:r>
          </a:p>
          <a:p>
            <a:pPr algn="ctr"/>
            <a:r>
              <a:rPr lang="en-US" sz="2800" b="1" dirty="0">
                <a:latin typeface="Times New Roman" panose="02020603050405020304" pitchFamily="18" charset="0"/>
                <a:cs typeface="Times New Roman" panose="02020603050405020304" pitchFamily="18" charset="0"/>
              </a:rPr>
              <a:t>Sem – 6 (AIML-28)</a:t>
            </a:r>
          </a:p>
          <a:p>
            <a:pPr algn="ctr"/>
            <a:r>
              <a:rPr lang="en-US" sz="2800" b="1" dirty="0">
                <a:latin typeface="Times New Roman" panose="02020603050405020304" pitchFamily="18" charset="0"/>
                <a:cs typeface="Times New Roman" panose="02020603050405020304" pitchFamily="18" charset="0"/>
              </a:rPr>
              <a:t>Enrollment No.: 202222700038</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303386E-CD97-382F-7798-954BA4EE6F34}"/>
              </a:ext>
            </a:extLst>
          </p:cNvPr>
          <p:cNvSpPr txBox="1"/>
          <p:nvPr/>
        </p:nvSpPr>
        <p:spPr>
          <a:xfrm>
            <a:off x="705010" y="4296538"/>
            <a:ext cx="4916667" cy="1384995"/>
          </a:xfrm>
          <a:prstGeom prst="rect">
            <a:avLst/>
          </a:prstGeom>
          <a:noFill/>
        </p:spPr>
        <p:txBody>
          <a:bodyPr wrap="none" rtlCol="0">
            <a:spAutoFit/>
          </a:bodyPr>
          <a:lstStyle/>
          <a:p>
            <a:pPr algn="ctr"/>
            <a:r>
              <a:rPr lang="en-US" sz="2800" b="1" dirty="0">
                <a:latin typeface="Times New Roman" panose="02020603050405020304" pitchFamily="18" charset="0"/>
                <a:cs typeface="Times New Roman" panose="02020603050405020304" pitchFamily="18" charset="0"/>
              </a:rPr>
              <a:t>Name: Abhijeet Routh</a:t>
            </a:r>
          </a:p>
          <a:p>
            <a:pPr algn="ctr"/>
            <a:r>
              <a:rPr lang="en-US" sz="2800" b="1" dirty="0">
                <a:latin typeface="Times New Roman" panose="02020603050405020304" pitchFamily="18" charset="0"/>
                <a:cs typeface="Times New Roman" panose="02020603050405020304" pitchFamily="18" charset="0"/>
              </a:rPr>
              <a:t>Sem – 6 (AIML-29)</a:t>
            </a:r>
          </a:p>
          <a:p>
            <a:pPr algn="ctr"/>
            <a:r>
              <a:rPr lang="en-US" sz="2800" b="1" dirty="0">
                <a:latin typeface="Times New Roman" panose="02020603050405020304" pitchFamily="18" charset="0"/>
                <a:cs typeface="Times New Roman" panose="02020603050405020304" pitchFamily="18" charset="0"/>
              </a:rPr>
              <a:t>Enrollment No.: 202222700023</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4EB7ED4-7C11-21E8-2996-E223F515EC59}"/>
              </a:ext>
            </a:extLst>
          </p:cNvPr>
          <p:cNvSpPr txBox="1"/>
          <p:nvPr/>
        </p:nvSpPr>
        <p:spPr>
          <a:xfrm>
            <a:off x="562708" y="3399692"/>
            <a:ext cx="11016848"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Ahmedabad – Mumbai High Speed Rail Project </a:t>
            </a:r>
            <a:endParaRPr lang="en-IN" sz="4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F0A0904-D951-6805-1CBD-DCFAF5DE1E7A}"/>
              </a:ext>
            </a:extLst>
          </p:cNvPr>
          <p:cNvSpPr txBox="1"/>
          <p:nvPr/>
        </p:nvSpPr>
        <p:spPr>
          <a:xfrm>
            <a:off x="343261" y="6080760"/>
            <a:ext cx="1125458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Mentors :- Dr Akash Singh and Mr Gautam Chauhan</a:t>
            </a:r>
          </a:p>
        </p:txBody>
      </p:sp>
    </p:spTree>
    <p:extLst>
      <p:ext uri="{BB962C8B-B14F-4D97-AF65-F5344CB8AC3E}">
        <p14:creationId xmlns:p14="http://schemas.microsoft.com/office/powerpoint/2010/main" val="1659408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67FC7-40C0-105F-C657-0F4AC4D685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739654-1BC2-C45C-E28F-AD583C10BAA1}"/>
              </a:ext>
            </a:extLst>
          </p:cNvPr>
          <p:cNvSpPr>
            <a:spLocks noGrp="1"/>
          </p:cNvSpPr>
          <p:nvPr>
            <p:ph type="title"/>
          </p:nvPr>
        </p:nvSpPr>
        <p:spPr>
          <a:xfrm>
            <a:off x="838200" y="155449"/>
            <a:ext cx="10515600" cy="1325563"/>
          </a:xfrm>
        </p:spPr>
        <p:txBody>
          <a:bodyPr>
            <a:normAutofit/>
          </a:bodyPr>
          <a:lstStyle/>
          <a:p>
            <a:pPr algn="ctr"/>
            <a:r>
              <a:rPr lang="en-US" sz="4800" b="1" dirty="0">
                <a:latin typeface="Times New Roman" panose="02020603050405020304" pitchFamily="18" charset="0"/>
                <a:cs typeface="Times New Roman" panose="02020603050405020304" pitchFamily="18" charset="0"/>
              </a:rPr>
              <a:t>Abstract</a:t>
            </a:r>
            <a:endParaRPr lang="en-IN" sz="4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229BF63-0C27-F189-C07B-E23DD6DB68C5}"/>
              </a:ext>
            </a:extLst>
          </p:cNvPr>
          <p:cNvSpPr>
            <a:spLocks noGrp="1"/>
          </p:cNvSpPr>
          <p:nvPr>
            <p:ph idx="1"/>
          </p:nvPr>
        </p:nvSpPr>
        <p:spPr>
          <a:xfrm>
            <a:off x="838200" y="1450130"/>
            <a:ext cx="10515600" cy="5252421"/>
          </a:xfrm>
        </p:spPr>
        <p:txBody>
          <a:bodyPr>
            <a:noAutofit/>
          </a:bodyPr>
          <a:lstStyle/>
          <a:p>
            <a:pPr algn="just">
              <a:lnSpc>
                <a:spcPct val="150000"/>
              </a:lnSpc>
            </a:pPr>
            <a:r>
              <a:rPr lang="en-US" b="0" i="0" dirty="0">
                <a:solidFill>
                  <a:srgbClr val="1F1F1F"/>
                </a:solidFill>
                <a:effectLst/>
                <a:latin typeface="Times New Roman" panose="02020603050405020304" pitchFamily="18" charset="0"/>
                <a:cs typeface="Times New Roman" panose="02020603050405020304" pitchFamily="18" charset="0"/>
              </a:rPr>
              <a:t>This study present a PERT and CPM model which approach to manage the construction. While addressing the key constraints of construction are its resource limitation while construction which are Raw material availability : Steel , sand and gravel , cement and concrete Energy resources : Electricity supply , fuel for construction The model contains 12 different station which is long with approximately of 508 km. </a:t>
            </a:r>
          </a:p>
        </p:txBody>
      </p:sp>
    </p:spTree>
    <p:extLst>
      <p:ext uri="{BB962C8B-B14F-4D97-AF65-F5344CB8AC3E}">
        <p14:creationId xmlns:p14="http://schemas.microsoft.com/office/powerpoint/2010/main" val="41447536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1286-E5C7-7DAF-0F65-42078B959B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4F43D6-C478-0DB9-A18F-5E5AF22F9ED8}"/>
              </a:ext>
            </a:extLst>
          </p:cNvPr>
          <p:cNvSpPr>
            <a:spLocks noGrp="1"/>
          </p:cNvSpPr>
          <p:nvPr>
            <p:ph type="title"/>
          </p:nvPr>
        </p:nvSpPr>
        <p:spPr>
          <a:xfrm>
            <a:off x="838200" y="155449"/>
            <a:ext cx="10515600" cy="1325563"/>
          </a:xfrm>
        </p:spPr>
        <p:txBody>
          <a:bodyPr>
            <a:normAutofit/>
          </a:bodyPr>
          <a:lstStyle/>
          <a:p>
            <a:pPr algn="ctr"/>
            <a:r>
              <a:rPr lang="en-US" sz="4800" b="1" dirty="0">
                <a:latin typeface="Times New Roman" panose="02020603050405020304" pitchFamily="18" charset="0"/>
                <a:cs typeface="Times New Roman" panose="02020603050405020304" pitchFamily="18" charset="0"/>
              </a:rPr>
              <a:t>Abstract</a:t>
            </a:r>
            <a:endParaRPr lang="en-IN" sz="4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3186873-A8DC-6279-D981-70C948AF9084}"/>
              </a:ext>
            </a:extLst>
          </p:cNvPr>
          <p:cNvSpPr>
            <a:spLocks noGrp="1"/>
          </p:cNvSpPr>
          <p:nvPr>
            <p:ph idx="1"/>
          </p:nvPr>
        </p:nvSpPr>
        <p:spPr>
          <a:xfrm>
            <a:off x="838200" y="1450130"/>
            <a:ext cx="10515600" cy="5252421"/>
          </a:xfrm>
        </p:spPr>
        <p:txBody>
          <a:bodyPr>
            <a:noAutofit/>
          </a:bodyPr>
          <a:lstStyle/>
          <a:p>
            <a:pPr algn="just">
              <a:lnSpc>
                <a:spcPct val="150000"/>
              </a:lnSpc>
            </a:pPr>
            <a:r>
              <a:rPr lang="en-US" b="0" i="0" dirty="0">
                <a:solidFill>
                  <a:srgbClr val="1F1F1F"/>
                </a:solidFill>
                <a:effectLst/>
                <a:latin typeface="Times New Roman" panose="02020603050405020304" pitchFamily="18" charset="0"/>
                <a:cs typeface="Times New Roman" panose="02020603050405020304" pitchFamily="18" charset="0"/>
              </a:rPr>
              <a:t>Thus to build the path various kind of materials are required which delay due to seasonal conditions like rain and fog a model has been carried out to show much days delay it will take to supply material and work will be started. Jupyter notebook software is used to analyze the result of this pert and cpm model.</a:t>
            </a:r>
          </a:p>
        </p:txBody>
      </p:sp>
    </p:spTree>
    <p:extLst>
      <p:ext uri="{BB962C8B-B14F-4D97-AF65-F5344CB8AC3E}">
        <p14:creationId xmlns:p14="http://schemas.microsoft.com/office/powerpoint/2010/main" val="20962185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AD8454-8663-ADD6-0343-11A7CB431C30}"/>
              </a:ext>
            </a:extLst>
          </p:cNvPr>
          <p:cNvSpPr>
            <a:spLocks noGrp="1"/>
          </p:cNvSpPr>
          <p:nvPr>
            <p:ph type="title"/>
          </p:nvPr>
        </p:nvSpPr>
        <p:spPr/>
        <p:txBody>
          <a:bodyPr>
            <a:normAutofit/>
          </a:bodyPr>
          <a:lstStyle/>
          <a:p>
            <a:pPr algn="ctr"/>
            <a:r>
              <a:rPr lang="en-US" sz="4800" b="1" dirty="0">
                <a:latin typeface="Times New Roman" panose="02020603050405020304" pitchFamily="18" charset="0"/>
                <a:cs typeface="Times New Roman" panose="02020603050405020304" pitchFamily="18" charset="0"/>
              </a:rPr>
              <a:t>Introduction</a:t>
            </a:r>
            <a:endParaRPr lang="en-IN" sz="4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6FDDC1A-AC68-0EEF-C986-E2BCB43F059F}"/>
              </a:ext>
            </a:extLst>
          </p:cNvPr>
          <p:cNvSpPr>
            <a:spLocks noGrp="1"/>
          </p:cNvSpPr>
          <p:nvPr>
            <p:ph idx="1"/>
          </p:nvPr>
        </p:nvSpPr>
        <p:spPr>
          <a:xfrm>
            <a:off x="838200" y="2218227"/>
            <a:ext cx="10515600" cy="4204786"/>
          </a:xfrm>
        </p:spPr>
        <p:txBody>
          <a:bodyPr>
            <a:noAutofit/>
          </a:bodyPr>
          <a:lstStyle/>
          <a:p>
            <a:pPr algn="just">
              <a:lnSpc>
                <a:spcPct val="150000"/>
              </a:lnSpc>
            </a:pPr>
            <a:r>
              <a:rPr lang="en-US" b="0" i="0" dirty="0">
                <a:solidFill>
                  <a:srgbClr val="040C28"/>
                </a:solidFill>
                <a:effectLst/>
                <a:latin typeface="Times New Roman" panose="02020603050405020304" pitchFamily="18" charset="0"/>
                <a:cs typeface="Times New Roman" panose="02020603050405020304" pitchFamily="18" charset="0"/>
              </a:rPr>
              <a:t>The Ahmedabad</a:t>
            </a:r>
            <a:r>
              <a:rPr lang="en-US" dirty="0">
                <a:solidFill>
                  <a:srgbClr val="040C28"/>
                </a:solidFill>
                <a:latin typeface="Times New Roman" panose="02020603050405020304" pitchFamily="18" charset="0"/>
                <a:cs typeface="Times New Roman" panose="02020603050405020304" pitchFamily="18" charset="0"/>
              </a:rPr>
              <a:t> -</a:t>
            </a:r>
            <a:r>
              <a:rPr lang="en-US" b="0" i="0" dirty="0">
                <a:solidFill>
                  <a:srgbClr val="040C28"/>
                </a:solidFill>
                <a:effectLst/>
                <a:latin typeface="Times New Roman" panose="02020603050405020304" pitchFamily="18" charset="0"/>
                <a:cs typeface="Times New Roman" panose="02020603050405020304" pitchFamily="18" charset="0"/>
              </a:rPr>
              <a:t> Mumbai High Speed Rail Project (</a:t>
            </a:r>
            <a:r>
              <a:rPr lang="en-US" dirty="0">
                <a:solidFill>
                  <a:srgbClr val="040C28"/>
                </a:solidFill>
                <a:latin typeface="Times New Roman" panose="02020603050405020304" pitchFamily="18" charset="0"/>
                <a:cs typeface="Times New Roman" panose="02020603050405020304" pitchFamily="18" charset="0"/>
              </a:rPr>
              <a:t>AM</a:t>
            </a:r>
            <a:r>
              <a:rPr lang="en-US" b="0" i="0" dirty="0">
                <a:solidFill>
                  <a:srgbClr val="040C28"/>
                </a:solidFill>
                <a:effectLst/>
                <a:latin typeface="Times New Roman" panose="02020603050405020304" pitchFamily="18" charset="0"/>
                <a:cs typeface="Times New Roman" panose="02020603050405020304" pitchFamily="18" charset="0"/>
              </a:rPr>
              <a:t>HSR), popularly known as the Bullet Train Project, will introduce the first-ever bullet train to operate in India</a:t>
            </a:r>
            <a:r>
              <a:rPr lang="en-US" b="0" i="0" dirty="0">
                <a:solidFill>
                  <a:srgbClr val="1F1F1F"/>
                </a:solidFill>
                <a:effectLst/>
                <a:latin typeface="Times New Roman" panose="02020603050405020304" pitchFamily="18" charset="0"/>
                <a:cs typeface="Times New Roman" panose="02020603050405020304" pitchFamily="18" charset="0"/>
              </a:rPr>
              <a:t>. </a:t>
            </a:r>
          </a:p>
          <a:p>
            <a:pPr algn="just">
              <a:lnSpc>
                <a:spcPct val="150000"/>
              </a:lnSpc>
            </a:pPr>
            <a:r>
              <a:rPr lang="en-US" b="0" i="0" dirty="0">
                <a:solidFill>
                  <a:srgbClr val="1F1F1F"/>
                </a:solidFill>
                <a:effectLst/>
                <a:latin typeface="Times New Roman" panose="02020603050405020304" pitchFamily="18" charset="0"/>
                <a:cs typeface="Times New Roman" panose="02020603050405020304" pitchFamily="18" charset="0"/>
              </a:rPr>
              <a:t>The train will run between Ahmedabad city and Mumbai, covering about 500 km (310 miles).</a:t>
            </a:r>
          </a:p>
        </p:txBody>
      </p:sp>
    </p:spTree>
    <p:extLst>
      <p:ext uri="{BB962C8B-B14F-4D97-AF65-F5344CB8AC3E}">
        <p14:creationId xmlns:p14="http://schemas.microsoft.com/office/powerpoint/2010/main" val="250072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A0D966-BF58-76FD-257D-5828CAF3645F}"/>
              </a:ext>
            </a:extLst>
          </p:cNvPr>
          <p:cNvSpPr>
            <a:spLocks noGrp="1"/>
          </p:cNvSpPr>
          <p:nvPr>
            <p:ph type="title"/>
          </p:nvPr>
        </p:nvSpPr>
        <p:spPr/>
        <p:txBody>
          <a:bodyPr/>
          <a:lstStyle/>
          <a:p>
            <a:pPr algn="ctr"/>
            <a:r>
              <a:rPr lang="en-US" sz="4400" b="1" dirty="0">
                <a:latin typeface="Times New Roman" panose="02020603050405020304" pitchFamily="18" charset="0"/>
                <a:cs typeface="Times New Roman" panose="02020603050405020304" pitchFamily="18" charset="0"/>
              </a:rPr>
              <a:t>Introduction</a:t>
            </a:r>
            <a:endParaRPr lang="en-IN" dirty="0"/>
          </a:p>
        </p:txBody>
      </p:sp>
      <p:sp>
        <p:nvSpPr>
          <p:cNvPr id="5" name="Content Placeholder 4">
            <a:extLst>
              <a:ext uri="{FF2B5EF4-FFF2-40B4-BE49-F238E27FC236}">
                <a16:creationId xmlns:a16="http://schemas.microsoft.com/office/drawing/2014/main" id="{6D772B55-DEC4-2703-623D-CCA7D028B585}"/>
              </a:ext>
            </a:extLst>
          </p:cNvPr>
          <p:cNvSpPr>
            <a:spLocks noGrp="1"/>
          </p:cNvSpPr>
          <p:nvPr>
            <p:ph idx="1"/>
          </p:nvPr>
        </p:nvSpPr>
        <p:spPr/>
        <p:txBody>
          <a:bodyPr>
            <a:normAutofit/>
          </a:bodyPr>
          <a:lstStyle/>
          <a:p>
            <a:pPr algn="just">
              <a:lnSpc>
                <a:spcPct val="150000"/>
              </a:lnSpc>
            </a:pPr>
            <a:r>
              <a:rPr lang="en-US" sz="2800" b="0" i="0" dirty="0">
                <a:solidFill>
                  <a:srgbClr val="3B3B3B"/>
                </a:solidFill>
                <a:effectLst/>
                <a:latin typeface="Times New Roman" panose="02020603050405020304" pitchFamily="18" charset="0"/>
                <a:cs typeface="Times New Roman" panose="02020603050405020304" pitchFamily="18" charset="0"/>
              </a:rPr>
              <a:t>The AMHSR corridor will include 8 mountain tunnels, which will be constructed using the New Austrian Tunneling Method (NATM).</a:t>
            </a:r>
          </a:p>
          <a:p>
            <a:pPr algn="just">
              <a:lnSpc>
                <a:spcPct val="150000"/>
              </a:lnSpc>
            </a:pPr>
            <a:r>
              <a:rPr lang="en-US" sz="2800" b="0" i="0" dirty="0">
                <a:solidFill>
                  <a:srgbClr val="3B3B3B"/>
                </a:solidFill>
                <a:effectLst/>
                <a:latin typeface="Times New Roman" panose="02020603050405020304" pitchFamily="18" charset="0"/>
                <a:cs typeface="Times New Roman" panose="02020603050405020304" pitchFamily="18" charset="0"/>
              </a:rPr>
              <a:t> Seven of these tunnels are located in the Palghar district of Maharashtra, while one is situated in the Valsad district of Gujarat.</a:t>
            </a:r>
            <a:endParaRPr lang="en-IN" sz="28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14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66540-DA9F-4DF7-A5F8-9B6B4C723A0D}"/>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Objective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EC9B5B-8DCB-CFFE-6A6B-3B7D417E3C19}"/>
              </a:ext>
            </a:extLst>
          </p:cNvPr>
          <p:cNvSpPr>
            <a:spLocks noGrp="1"/>
          </p:cNvSpPr>
          <p:nvPr>
            <p:ph idx="1"/>
          </p:nvPr>
        </p:nvSpPr>
        <p:spPr/>
        <p:txBody>
          <a:bodyPr>
            <a:normAutofit lnSpcReduction="10000"/>
          </a:bodyPr>
          <a:lstStyle/>
          <a:p>
            <a:pPr algn="just">
              <a:lnSpc>
                <a:spcPct val="150000"/>
              </a:lnSpc>
            </a:pPr>
            <a:r>
              <a:rPr lang="en-US" b="1" dirty="0">
                <a:latin typeface="Times New Roman" panose="02020603050405020304" pitchFamily="18" charset="0"/>
                <a:cs typeface="Times New Roman" panose="02020603050405020304" pitchFamily="18" charset="0"/>
              </a:rPr>
              <a:t>Engage Stakeholders</a:t>
            </a:r>
            <a:r>
              <a:rPr lang="en-US" dirty="0">
                <a:latin typeface="Times New Roman" panose="02020603050405020304" pitchFamily="18" charset="0"/>
                <a:cs typeface="Times New Roman" panose="02020603050405020304" pitchFamily="18" charset="0"/>
              </a:rPr>
              <a:t>: Inform government officials, investors, and the general public about the project’s potential to transform the transportation landscape between Ahmedabad and Mumbai, and encourage collaboration and support.</a:t>
            </a:r>
          </a:p>
          <a:p>
            <a:pPr algn="just">
              <a:lnSpc>
                <a:spcPct val="150000"/>
              </a:lnSpc>
            </a:pPr>
            <a:r>
              <a:rPr lang="en-US" b="1" dirty="0"/>
              <a:t>Encourage Public Support and Awareness</a:t>
            </a:r>
            <a:r>
              <a:rPr lang="en-US" dirty="0"/>
              <a:t>: Raise awareness about the long-term benefits of the bullet train and encourage community engagement and support for the project.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57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D3EC5-ABC0-F496-9736-DE894C219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90CFE-E4FD-86ED-B5B0-1669A6538D05}"/>
              </a:ext>
            </a:extLst>
          </p:cNvPr>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Constraints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D23A54-C3A9-D846-A66C-D757A1D73854}"/>
              </a:ext>
            </a:extLst>
          </p:cNvPr>
          <p:cNvSpPr>
            <a:spLocks noGrp="1"/>
          </p:cNvSpPr>
          <p:nvPr>
            <p:ph idx="1"/>
          </p:nvPr>
        </p:nvSpPr>
        <p:spPr/>
        <p:txBody>
          <a:bodyPr/>
          <a:lstStyle/>
          <a:p>
            <a:pPr algn="just">
              <a:lnSpc>
                <a:spcPct val="150000"/>
              </a:lnSpc>
            </a:pPr>
            <a:r>
              <a:rPr lang="en-US" b="1" dirty="0">
                <a:latin typeface="Times New Roman" panose="02020603050405020304" pitchFamily="18" charset="0"/>
                <a:cs typeface="Times New Roman" panose="02020603050405020304" pitchFamily="18" charset="0"/>
              </a:rPr>
              <a:t>Funding Sources</a:t>
            </a:r>
            <a:r>
              <a:rPr lang="en-US" dirty="0">
                <a:latin typeface="Times New Roman" panose="02020603050405020304" pitchFamily="18" charset="0"/>
                <a:cs typeface="Times New Roman" panose="02020603050405020304" pitchFamily="18" charset="0"/>
              </a:rPr>
              <a:t>: The project is being financed through a mix of Indian government funds, Japanese loans, and private sector contributions. </a:t>
            </a:r>
          </a:p>
          <a:p>
            <a:pPr algn="just">
              <a:lnSpc>
                <a:spcPct val="150000"/>
              </a:lnSpc>
            </a:pPr>
            <a:r>
              <a:rPr lang="en-US" b="1" dirty="0">
                <a:latin typeface="Times New Roman" panose="02020603050405020304" pitchFamily="18" charset="0"/>
                <a:cs typeface="Times New Roman" panose="02020603050405020304" pitchFamily="18" charset="0"/>
              </a:rPr>
              <a:t>Land Acquisition &amp; Relocation</a:t>
            </a:r>
            <a:r>
              <a:rPr lang="en-US" dirty="0">
                <a:latin typeface="Times New Roman" panose="02020603050405020304" pitchFamily="18" charset="0"/>
                <a:cs typeface="Times New Roman" panose="02020603050405020304" pitchFamily="18" charset="0"/>
              </a:rPr>
              <a:t>: The construction of the bullet train line will require significant land acquisition, displacing individuals and businesses, leading to possible protests and legal challenges.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418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D1ECA-1612-0426-395E-38A9047842DC}"/>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Review of literature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6D4F59-EE1B-E178-B86A-0D6E0DE5BE11}"/>
              </a:ext>
            </a:extLst>
          </p:cNvPr>
          <p:cNvSpPr>
            <a:spLocks noGrp="1"/>
          </p:cNvSpPr>
          <p:nvPr>
            <p:ph idx="1"/>
          </p:nvPr>
        </p:nvSpPr>
        <p:spPr/>
        <p:txBody>
          <a:bodyPr/>
          <a:lstStyle/>
          <a:p>
            <a:pPr algn="just">
              <a:lnSpc>
                <a:spcPct val="150000"/>
              </a:lnSpc>
            </a:pPr>
            <a:r>
              <a:rPr lang="en-US" dirty="0">
                <a:latin typeface="Times New Roman" panose="02020603050405020304" pitchFamily="18" charset="0"/>
                <a:cs typeface="Times New Roman" panose="02020603050405020304" pitchFamily="18" charset="0"/>
              </a:rPr>
              <a:t>In order to construct a PERT-CPM model, a thorough review of existing studies and methodologies is required. </a:t>
            </a:r>
          </a:p>
          <a:p>
            <a:pPr algn="just">
              <a:lnSpc>
                <a:spcPct val="150000"/>
              </a:lnSpc>
            </a:pPr>
            <a:r>
              <a:rPr lang="en-US" b="1" dirty="0">
                <a:latin typeface="Times New Roman" panose="02020603050405020304" pitchFamily="18" charset="0"/>
                <a:cs typeface="Times New Roman" panose="02020603050405020304" pitchFamily="18" charset="0"/>
              </a:rPr>
              <a:t>PERT in Construction Management:</a:t>
            </a:r>
            <a:r>
              <a:rPr lang="en-US" dirty="0">
                <a:latin typeface="Times New Roman" panose="02020603050405020304" pitchFamily="18" charset="0"/>
                <a:cs typeface="Times New Roman" panose="02020603050405020304" pitchFamily="18" charset="0"/>
              </a:rPr>
              <a:t> PERT has been widely applied in large-scale infrastructure projects, especially those involving significant uncertainty in task durations (e.g., public consultations or weather delays).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954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6DB35-107E-36FA-74D4-A8DB6F7CD70A}"/>
              </a:ext>
            </a:extLst>
          </p:cNvPr>
          <p:cNvSpPr>
            <a:spLocks noGrp="1"/>
          </p:cNvSpPr>
          <p:nvPr>
            <p:ph type="title"/>
          </p:nvPr>
        </p:nvSpPr>
        <p:spPr>
          <a:xfrm>
            <a:off x="838200" y="18255"/>
            <a:ext cx="10515600" cy="1325563"/>
          </a:xfrm>
        </p:spPr>
        <p:txBody>
          <a:bodyPr/>
          <a:lstStyle/>
          <a:p>
            <a:pPr algn="ctr"/>
            <a:r>
              <a:rPr lang="en-US" b="1" dirty="0">
                <a:latin typeface="Times New Roman" panose="02020603050405020304" pitchFamily="18" charset="0"/>
                <a:cs typeface="Times New Roman" panose="02020603050405020304" pitchFamily="18" charset="0"/>
              </a:rPr>
              <a:t>Review of literature</a:t>
            </a:r>
            <a:endParaRPr lang="en-IN" dirty="0"/>
          </a:p>
        </p:txBody>
      </p:sp>
      <p:sp>
        <p:nvSpPr>
          <p:cNvPr id="3" name="Content Placeholder 2">
            <a:extLst>
              <a:ext uri="{FF2B5EF4-FFF2-40B4-BE49-F238E27FC236}">
                <a16:creationId xmlns:a16="http://schemas.microsoft.com/office/drawing/2014/main" id="{44870C56-36DD-8718-6A88-B80EB3AE4BA6}"/>
              </a:ext>
            </a:extLst>
          </p:cNvPr>
          <p:cNvSpPr>
            <a:spLocks noGrp="1"/>
          </p:cNvSpPr>
          <p:nvPr>
            <p:ph idx="1"/>
          </p:nvPr>
        </p:nvSpPr>
        <p:spPr>
          <a:xfrm>
            <a:off x="838200" y="1253330"/>
            <a:ext cx="10515600" cy="5436227"/>
          </a:xfrm>
        </p:spPr>
        <p:txBody>
          <a:bodyPr>
            <a:noAutofit/>
          </a:bodyPr>
          <a:lstStyle/>
          <a:p>
            <a:pPr algn="just">
              <a:lnSpc>
                <a:spcPct val="150000"/>
              </a:lnSpc>
            </a:pPr>
            <a:r>
              <a:rPr lang="en-US" b="1" dirty="0">
                <a:latin typeface="Times New Roman" panose="02020603050405020304" pitchFamily="18" charset="0"/>
                <a:cs typeface="Times New Roman" panose="02020603050405020304" pitchFamily="18" charset="0"/>
              </a:rPr>
              <a:t>CPM for Large-Scale Infrastructure Projects</a:t>
            </a:r>
            <a:r>
              <a:rPr lang="en-US" dirty="0">
                <a:latin typeface="Times New Roman" panose="02020603050405020304" pitchFamily="18" charset="0"/>
                <a:cs typeface="Times New Roman" panose="02020603050405020304" pitchFamily="18" charset="0"/>
              </a:rPr>
              <a:t>: CPM has been utilized in construction projects to determine the critical path the longest sequence of tasks that dictates the overall project duration.</a:t>
            </a:r>
          </a:p>
          <a:p>
            <a:pPr algn="just">
              <a:lnSpc>
                <a:spcPct val="150000"/>
              </a:lnSpc>
            </a:pPr>
            <a:r>
              <a:rPr lang="en-US" b="1" dirty="0">
                <a:latin typeface="Times New Roman" panose="02020603050405020304" pitchFamily="18" charset="0"/>
                <a:cs typeface="Times New Roman" panose="02020603050405020304" pitchFamily="18" charset="0"/>
              </a:rPr>
              <a:t>Impact of Weather Conditions:</a:t>
            </a:r>
            <a:r>
              <a:rPr lang="en-US" dirty="0">
                <a:latin typeface="Times New Roman" panose="02020603050405020304" pitchFamily="18" charset="0"/>
                <a:cs typeface="Times New Roman" panose="02020603050405020304" pitchFamily="18" charset="0"/>
              </a:rPr>
              <a:t> Several studies have focused on incorporating environmental constraints like weather into construction timelines.</a:t>
            </a:r>
          </a:p>
        </p:txBody>
      </p:sp>
    </p:spTree>
    <p:extLst>
      <p:ext uri="{BB962C8B-B14F-4D97-AF65-F5344CB8AC3E}">
        <p14:creationId xmlns:p14="http://schemas.microsoft.com/office/powerpoint/2010/main" val="31277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76ED-4F63-33E0-82BE-7F910347647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Land Acquisition Status For Bullet Train Project</a:t>
            </a:r>
            <a:endParaRPr lang="en-IN" b="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0F9D5E8A-AB66-D8D2-DCFC-C39F2A69205B}"/>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511079" y="1690686"/>
            <a:ext cx="5584921" cy="4802186"/>
          </a:xfrm>
        </p:spPr>
      </p:pic>
      <p:pic>
        <p:nvPicPr>
          <p:cNvPr id="8" name="Graphic 7">
            <a:extLst>
              <a:ext uri="{FF2B5EF4-FFF2-40B4-BE49-F238E27FC236}">
                <a16:creationId xmlns:a16="http://schemas.microsoft.com/office/drawing/2014/main" id="{C37C06AD-6B3C-80F4-F21C-A8AC7891AA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0" y="1690687"/>
            <a:ext cx="5476875" cy="4802187"/>
          </a:xfrm>
          <a:prstGeom prst="rect">
            <a:avLst/>
          </a:prstGeom>
        </p:spPr>
      </p:pic>
    </p:spTree>
    <p:extLst>
      <p:ext uri="{BB962C8B-B14F-4D97-AF65-F5344CB8AC3E}">
        <p14:creationId xmlns:p14="http://schemas.microsoft.com/office/powerpoint/2010/main" val="3059274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D1DBA7-85AA-C3B8-67C7-DA4152804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327" y="276726"/>
            <a:ext cx="11189369" cy="6400800"/>
          </a:xfrm>
          <a:prstGeom prst="rect">
            <a:avLst/>
          </a:prstGeom>
        </p:spPr>
      </p:pic>
    </p:spTree>
    <p:extLst>
      <p:ext uri="{BB962C8B-B14F-4D97-AF65-F5344CB8AC3E}">
        <p14:creationId xmlns:p14="http://schemas.microsoft.com/office/powerpoint/2010/main" val="220685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299A-7E66-95A0-640E-0F33F3FBF85E}"/>
              </a:ext>
            </a:extLst>
          </p:cNvPr>
          <p:cNvSpPr>
            <a:spLocks noGrp="1"/>
          </p:cNvSpPr>
          <p:nvPr>
            <p:ph type="title"/>
          </p:nvPr>
        </p:nvSpPr>
        <p:spPr/>
        <p:txBody>
          <a:bodyPr>
            <a:normAutofit/>
          </a:bodyPr>
          <a:lstStyle/>
          <a:p>
            <a:pPr algn="ctr"/>
            <a:r>
              <a:rPr lang="en-IN"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9A0EC1-D35F-C194-C30B-5E705C02336A}"/>
              </a:ext>
            </a:extLst>
          </p:cNvPr>
          <p:cNvSpPr>
            <a:spLocks noGrp="1"/>
          </p:cNvSpPr>
          <p:nvPr>
            <p:ph idx="1"/>
          </p:nvPr>
        </p:nvSpPr>
        <p:spPr>
          <a:xfrm>
            <a:off x="774192" y="1823700"/>
            <a:ext cx="10515600" cy="4767680"/>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is an implementation of the PERT (Program Evaluation and Review Technique) and CPM (Critical Path Method) for project management, extended to incorporate resource constraints. </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1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98F5-A37F-B4AB-FF7A-67F59F01B94D}"/>
              </a:ext>
            </a:extLst>
          </p:cNvPr>
          <p:cNvSpPr>
            <a:spLocks noGrp="1"/>
          </p:cNvSpPr>
          <p:nvPr>
            <p:ph type="title"/>
          </p:nvPr>
        </p:nvSpPr>
        <p:spPr/>
        <p:txBody>
          <a:bodyPr/>
          <a:lstStyle/>
          <a:p>
            <a:pPr algn="ctr"/>
            <a:r>
              <a:rPr lang="en-IN"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D4F25E-9F31-35F0-46BE-2BD435155785}"/>
              </a:ext>
            </a:extLst>
          </p:cNvPr>
          <p:cNvSpPr>
            <a:spLocks noGrp="1"/>
          </p:cNvSpPr>
          <p:nvPr>
            <p:ph idx="1"/>
          </p:nvPr>
        </p:nvSpPr>
        <p:spPr/>
        <p:txBody>
          <a:bodyPr>
            <a:normAutofit lnSpcReduction="10000"/>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1. Data Preparation:</a:t>
            </a:r>
          </a:p>
          <a:p>
            <a:pPr algn="just">
              <a:lnSpc>
                <a:spcPct val="150000"/>
              </a:lnSpc>
            </a:pPr>
            <a:r>
              <a:rPr lang="en-US" b="1" dirty="0">
                <a:latin typeface="Times New Roman" panose="02020603050405020304" pitchFamily="18" charset="0"/>
                <a:cs typeface="Times New Roman" panose="02020603050405020304" pitchFamily="18" charset="0"/>
              </a:rPr>
              <a:t>Task Data:</a:t>
            </a:r>
            <a:r>
              <a:rPr lang="en-US" dirty="0">
                <a:latin typeface="Times New Roman" panose="02020603050405020304" pitchFamily="18" charset="0"/>
                <a:cs typeface="Times New Roman" panose="02020603050405020304" pitchFamily="18" charset="0"/>
              </a:rPr>
              <a:t> The project loads the task data from a CSV file (task_data.csv) containing information about tasks such as: </a:t>
            </a:r>
          </a:p>
          <a:p>
            <a:pPr algn="just">
              <a:lnSpc>
                <a:spcPct val="150000"/>
              </a:lnSpc>
            </a:pPr>
            <a:r>
              <a:rPr lang="en-US" dirty="0">
                <a:latin typeface="Times New Roman" panose="02020603050405020304" pitchFamily="18" charset="0"/>
                <a:cs typeface="Times New Roman" panose="02020603050405020304" pitchFamily="18" charset="0"/>
              </a:rPr>
              <a:t>Task ID</a:t>
            </a:r>
          </a:p>
          <a:p>
            <a:pPr algn="just">
              <a:lnSpc>
                <a:spcPct val="150000"/>
              </a:lnSpc>
            </a:pPr>
            <a:r>
              <a:rPr lang="en-US" dirty="0">
                <a:latin typeface="Times New Roman" panose="02020603050405020304" pitchFamily="18" charset="0"/>
                <a:cs typeface="Times New Roman" panose="02020603050405020304" pitchFamily="18" charset="0"/>
              </a:rPr>
              <a:t>Task Name</a:t>
            </a:r>
          </a:p>
          <a:p>
            <a:pPr algn="just">
              <a:lnSpc>
                <a:spcPct val="150000"/>
              </a:lnSpc>
            </a:pPr>
            <a:r>
              <a:rPr lang="en-US" dirty="0">
                <a:latin typeface="Times New Roman" panose="02020603050405020304" pitchFamily="18" charset="0"/>
                <a:cs typeface="Times New Roman" panose="02020603050405020304" pitchFamily="18" charset="0"/>
              </a:rPr>
              <a:t>Predecessor Tasks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24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C95D9-BB86-3DBA-6D79-071FD6795BAE}"/>
              </a:ext>
            </a:extLst>
          </p:cNvPr>
          <p:cNvSpPr>
            <a:spLocks noGrp="1"/>
          </p:cNvSpPr>
          <p:nvPr>
            <p:ph type="title"/>
          </p:nvPr>
        </p:nvSpPr>
        <p:spPr/>
        <p:txBody>
          <a:bodyPr>
            <a:normAutofit/>
          </a:bodyPr>
          <a:lstStyle/>
          <a:p>
            <a:pPr marL="742950" lvl="1" indent="-285750" algn="ctr">
              <a:lnSpc>
                <a:spcPct val="115000"/>
              </a:lnSpc>
              <a:spcAft>
                <a:spcPts val="800"/>
              </a:spcAft>
              <a:tabLst>
                <a:tab pos="914400" algn="l"/>
              </a:tabLst>
            </a:pPr>
            <a:r>
              <a:rPr lang="en-IN" sz="4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sz="4400" dirty="0"/>
          </a:p>
        </p:txBody>
      </p:sp>
      <p:sp>
        <p:nvSpPr>
          <p:cNvPr id="3" name="Content Placeholder 2">
            <a:extLst>
              <a:ext uri="{FF2B5EF4-FFF2-40B4-BE49-F238E27FC236}">
                <a16:creationId xmlns:a16="http://schemas.microsoft.com/office/drawing/2014/main" id="{4509D7A3-4784-C1D5-A2A4-4AFD024F964E}"/>
              </a:ext>
            </a:extLst>
          </p:cNvPr>
          <p:cNvSpPr>
            <a:spLocks noGrp="1"/>
          </p:cNvSpPr>
          <p:nvPr>
            <p:ph idx="1"/>
          </p:nvPr>
        </p:nvSpPr>
        <p:spPr/>
        <p:txBody>
          <a:bodyPr/>
          <a:lstStyle/>
          <a:p>
            <a:pPr algn="just">
              <a:lnSpc>
                <a:spcPct val="150000"/>
              </a:lnSpc>
            </a:pPr>
            <a:r>
              <a:rPr lang="en-US" b="1" dirty="0">
                <a:latin typeface="Times New Roman" panose="02020603050405020304" pitchFamily="18" charset="0"/>
                <a:cs typeface="Times New Roman" panose="02020603050405020304" pitchFamily="18" charset="0"/>
              </a:rPr>
              <a:t>Resource Constraints Data:</a:t>
            </a:r>
            <a:r>
              <a:rPr lang="en-US" dirty="0">
                <a:latin typeface="Times New Roman" panose="02020603050405020304" pitchFamily="18" charset="0"/>
                <a:cs typeface="Times New Roman" panose="02020603050405020304" pitchFamily="18" charset="0"/>
              </a:rPr>
              <a:t> The project loads another CSV file (resource_constraints.csv) which contains information about: </a:t>
            </a:r>
          </a:p>
          <a:p>
            <a:pPr algn="just">
              <a:lnSpc>
                <a:spcPct val="150000"/>
              </a:lnSpc>
            </a:pPr>
            <a:r>
              <a:rPr lang="en-US" dirty="0">
                <a:latin typeface="Times New Roman" panose="02020603050405020304" pitchFamily="18" charset="0"/>
                <a:cs typeface="Times New Roman" panose="02020603050405020304" pitchFamily="18" charset="0"/>
              </a:rPr>
              <a:t>Task ID</a:t>
            </a:r>
          </a:p>
          <a:p>
            <a:pPr algn="just">
              <a:lnSpc>
                <a:spcPct val="150000"/>
              </a:lnSpc>
            </a:pPr>
            <a:r>
              <a:rPr lang="en-US" dirty="0">
                <a:latin typeface="Times New Roman" panose="02020603050405020304" pitchFamily="18" charset="0"/>
                <a:cs typeface="Times New Roman" panose="02020603050405020304" pitchFamily="18" charset="0"/>
              </a:rPr>
              <a:t>Seasonal Delays</a:t>
            </a:r>
          </a:p>
          <a:p>
            <a:pPr algn="just">
              <a:lnSpc>
                <a:spcPct val="150000"/>
              </a:lnSpc>
            </a:pPr>
            <a:r>
              <a:rPr lang="en-US" dirty="0">
                <a:latin typeface="Times New Roman" panose="02020603050405020304" pitchFamily="18" charset="0"/>
                <a:cs typeface="Times New Roman" panose="02020603050405020304" pitchFamily="18" charset="0"/>
              </a:rPr>
              <a:t>Weather Impact on Task Duration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83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E799A-7547-E7F4-6FB7-F5E9325054AD}"/>
              </a:ext>
            </a:extLst>
          </p:cNvPr>
          <p:cNvSpPr>
            <a:spLocks noGrp="1"/>
          </p:cNvSpPr>
          <p:nvPr>
            <p:ph type="title"/>
          </p:nvPr>
        </p:nvSpPr>
        <p:spPr/>
        <p:txBody>
          <a:bodyPr/>
          <a:lstStyle/>
          <a:p>
            <a:pPr algn="ctr"/>
            <a:r>
              <a:rPr lang="en-IN"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7B717C16-914E-45B4-EBDC-2A09789FE0E8}"/>
              </a:ext>
            </a:extLst>
          </p:cNvPr>
          <p:cNvSpPr>
            <a:spLocks noGrp="1"/>
          </p:cNvSpPr>
          <p:nvPr>
            <p:ph idx="1"/>
          </p:nvPr>
        </p:nvSpPr>
        <p:spPr>
          <a:xfrm>
            <a:off x="838200" y="1320297"/>
            <a:ext cx="10515600" cy="5273007"/>
          </a:xfrm>
        </p:spPr>
        <p:txBody>
          <a:bodyPr>
            <a:no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2. Expected Duration Calculation:</a:t>
            </a:r>
          </a:p>
          <a:p>
            <a:pPr>
              <a:lnSpc>
                <a:spcPct val="150000"/>
              </a:lnSpc>
            </a:pPr>
            <a:r>
              <a:rPr lang="en-US" sz="2400" dirty="0">
                <a:latin typeface="Times New Roman" panose="02020603050405020304" pitchFamily="18" charset="0"/>
                <a:cs typeface="Times New Roman" panose="02020603050405020304" pitchFamily="18" charset="0"/>
              </a:rPr>
              <a:t>Expected Duration Calculation for PERT: The project calculates the expected task durations using the PERT formula:</a:t>
            </a:r>
          </a:p>
          <a:p>
            <a:pPr>
              <a:lnSpc>
                <a:spcPct val="150000"/>
              </a:lnSpc>
            </a:pPr>
            <a:r>
              <a:rPr lang="en-US" sz="2400" dirty="0">
                <a:latin typeface="Times New Roman" panose="02020603050405020304" pitchFamily="18" charset="0"/>
                <a:cs typeface="Times New Roman" panose="02020603050405020304" pitchFamily="18" charset="0"/>
              </a:rPr>
              <a:t>task_data_cleaned['Expected Duration (seconds)']=(    task_data_cleaned['Optimistic Duration (second)'] +     4 * task_data_cleaned['Most Likely Duration (second)'] +     task_data_cleaned['Pessimistic Duration (second)'] ) / 6 task_data_cleaned['Expected Duration (minutes)'] = </a:t>
            </a:r>
          </a:p>
          <a:p>
            <a:pPr marL="0" indent="0">
              <a:lnSpc>
                <a:spcPct val="150000"/>
              </a:lnSpc>
              <a:buNone/>
            </a:pPr>
            <a:r>
              <a:rPr lang="en-US" sz="2400" dirty="0">
                <a:latin typeface="Times New Roman" panose="02020603050405020304" pitchFamily="18" charset="0"/>
                <a:cs typeface="Times New Roman" panose="02020603050405020304" pitchFamily="18" charset="0"/>
              </a:rPr>
              <a:t>   task_data_cleaned['Expected Duration (seconds)'] / 60</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359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0D76D-1046-4CEB-6B7B-741778B0DA23}"/>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5EE27903-8864-69EF-7591-FF64CA2C3D81}"/>
              </a:ext>
            </a:extLst>
          </p:cNvPr>
          <p:cNvSpPr>
            <a:spLocks noGrp="1"/>
          </p:cNvSpPr>
          <p:nvPr>
            <p:ph idx="1"/>
          </p:nvPr>
        </p:nvSpPr>
        <p:spPr>
          <a:xfrm>
            <a:off x="838200" y="1548899"/>
            <a:ext cx="10515600" cy="4755650"/>
          </a:xfrm>
        </p:spPr>
        <p:txBody>
          <a:bodyPr>
            <a:normAutofit/>
          </a:bodyPr>
          <a:lstStyle/>
          <a:p>
            <a:pPr marL="0" indent="0" algn="just">
              <a:lnSpc>
                <a:spcPct val="150000"/>
              </a:lnSpc>
              <a:spcAft>
                <a:spcPts val="800"/>
              </a:spcAft>
              <a:buNone/>
            </a:pPr>
            <a:r>
              <a:rPr lang="en-IN" b="1" kern="100" dirty="0">
                <a:effectLst/>
                <a:latin typeface="Times New Roman" panose="02020603050405020304" pitchFamily="18" charset="0"/>
                <a:ea typeface="Calibri" panose="020F0502020204030204" pitchFamily="34" charset="0"/>
                <a:cs typeface="Times New Roman" panose="02020603050405020304" pitchFamily="18" charset="0"/>
              </a:rPr>
              <a:t>3. Graph Construction for Task Dependencies (PERT/CPM Network):</a:t>
            </a:r>
          </a:p>
          <a:p>
            <a:pPr algn="just">
              <a:lnSpc>
                <a:spcPct val="150000"/>
              </a:lnSpc>
              <a:spcAft>
                <a:spcPts val="800"/>
              </a:spcAft>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 directed graph (DiGraph) is created to represent the task dependencies.</a:t>
            </a:r>
          </a:p>
          <a:p>
            <a:pPr algn="just">
              <a:lnSpc>
                <a:spcPct val="150000"/>
              </a:lnSpc>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Nodes:</a:t>
            </a:r>
            <a:r>
              <a:rPr lang="en-IN" dirty="0">
                <a:effectLst/>
                <a:latin typeface="Times New Roman" panose="02020603050405020304" pitchFamily="18" charset="0"/>
                <a:ea typeface="Calibri" panose="020F0502020204030204" pitchFamily="34" charset="0"/>
                <a:cs typeface="Times New Roman" panose="02020603050405020304" pitchFamily="18" charset="0"/>
              </a:rPr>
              <a:t> Each task is added as a node in the graph.</a:t>
            </a:r>
          </a:p>
          <a:p>
            <a:pPr algn="just">
              <a:lnSpc>
                <a:spcPct val="150000"/>
              </a:lnSpc>
            </a:pPr>
            <a:r>
              <a:rPr lang="en-US" b="1" dirty="0">
                <a:latin typeface="Times New Roman" panose="02020603050405020304" pitchFamily="18" charset="0"/>
                <a:cs typeface="Times New Roman" panose="02020603050405020304" pitchFamily="18" charset="0"/>
              </a:rPr>
              <a:t>Edges:</a:t>
            </a:r>
            <a:r>
              <a:rPr lang="en-US" dirty="0">
                <a:latin typeface="Times New Roman" panose="02020603050405020304" pitchFamily="18" charset="0"/>
                <a:cs typeface="Times New Roman" panose="02020603050405020304" pitchFamily="18" charset="0"/>
              </a:rPr>
              <a:t> Dependencies between tasks are captured as edges. </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0675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1287-CD12-D8B4-6F3A-317BF39FCF8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2B528AE9-E062-7BFC-D093-C43464A2E987}"/>
              </a:ext>
            </a:extLst>
          </p:cNvPr>
          <p:cNvSpPr>
            <a:spLocks noGrp="1"/>
          </p:cNvSpPr>
          <p:nvPr>
            <p:ph idx="1"/>
          </p:nvPr>
        </p:nvSpPr>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4. Critical Path Calculation (PERT/CPM):</a:t>
            </a:r>
          </a:p>
          <a:p>
            <a:pPr algn="just">
              <a:lnSpc>
                <a:spcPct val="150000"/>
              </a:lnSpc>
            </a:pPr>
            <a:r>
              <a:rPr lang="en-US" b="1" dirty="0">
                <a:latin typeface="Times New Roman" panose="02020603050405020304" pitchFamily="18" charset="0"/>
                <a:cs typeface="Times New Roman" panose="02020603050405020304" pitchFamily="18" charset="0"/>
              </a:rPr>
              <a:t>Critical Path: </a:t>
            </a:r>
            <a:r>
              <a:rPr lang="en-US" dirty="0">
                <a:latin typeface="Times New Roman" panose="02020603050405020304" pitchFamily="18" charset="0"/>
                <a:cs typeface="Times New Roman" panose="02020603050405020304" pitchFamily="18" charset="0"/>
              </a:rPr>
              <a:t>The critical path of the project is calculated using nx.dag_longest_path(), which finds the path through the task network that takes the longest time to complete.</a:t>
            </a:r>
          </a:p>
          <a:p>
            <a:pPr algn="just">
              <a:lnSpc>
                <a:spcPct val="150000"/>
              </a:lnSpc>
            </a:pPr>
            <a:r>
              <a:rPr lang="en-US" b="1" dirty="0">
                <a:latin typeface="Times New Roman" panose="02020603050405020304" pitchFamily="18" charset="0"/>
                <a:cs typeface="Times New Roman" panose="02020603050405020304" pitchFamily="18" charset="0"/>
              </a:rPr>
              <a:t>Critical Path Length: </a:t>
            </a:r>
            <a:r>
              <a:rPr lang="en-US" dirty="0">
                <a:latin typeface="Times New Roman" panose="02020603050405020304" pitchFamily="18" charset="0"/>
                <a:cs typeface="Times New Roman" panose="02020603050405020304" pitchFamily="18" charset="0"/>
              </a:rPr>
              <a:t>The length of the critical path is also calculated by summing the weights (durations) of the edges in the critical path.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861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03D3-2EE0-8A65-CC8D-68546C1CC6E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CF9E1101-0E7C-A1F7-8037-D0BC17653623}"/>
              </a:ext>
            </a:extLst>
          </p:cNvPr>
          <p:cNvSpPr>
            <a:spLocks noGrp="1"/>
          </p:cNvSpPr>
          <p:nvPr>
            <p:ph idx="1"/>
          </p:nvPr>
        </p:nvSpPr>
        <p:spPr/>
        <p:txBody>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5. Graph Visualization:</a:t>
            </a:r>
          </a:p>
          <a:p>
            <a:pPr algn="just">
              <a:lnSpc>
                <a:spcPct val="150000"/>
              </a:lnSpc>
            </a:pPr>
            <a:r>
              <a:rPr lang="en-US" b="1" dirty="0">
                <a:latin typeface="Times New Roman" panose="02020603050405020304" pitchFamily="18" charset="0"/>
                <a:cs typeface="Times New Roman" panose="02020603050405020304" pitchFamily="18" charset="0"/>
              </a:rPr>
              <a:t>Node Labels:</a:t>
            </a:r>
            <a:r>
              <a:rPr lang="en-US" dirty="0">
                <a:latin typeface="Times New Roman" panose="02020603050405020304" pitchFamily="18" charset="0"/>
                <a:cs typeface="Times New Roman" panose="02020603050405020304" pitchFamily="18" charset="0"/>
              </a:rPr>
              <a:t> Each node (task) is labeled with the task name.</a:t>
            </a:r>
          </a:p>
          <a:p>
            <a:pPr algn="just">
              <a:lnSpc>
                <a:spcPct val="150000"/>
              </a:lnSpc>
            </a:pPr>
            <a:r>
              <a:rPr lang="en-US" b="1" dirty="0">
                <a:latin typeface="Times New Roman" panose="02020603050405020304" pitchFamily="18" charset="0"/>
                <a:cs typeface="Times New Roman" panose="02020603050405020304" pitchFamily="18" charset="0"/>
              </a:rPr>
              <a:t>Edge Labels:</a:t>
            </a:r>
            <a:r>
              <a:rPr lang="en-US" dirty="0">
                <a:latin typeface="Times New Roman" panose="02020603050405020304" pitchFamily="18" charset="0"/>
                <a:cs typeface="Times New Roman" panose="02020603050405020304" pitchFamily="18" charset="0"/>
              </a:rPr>
              <a:t> The expected duration of each task is displayed on the edges between tasks.</a:t>
            </a:r>
          </a:p>
          <a:p>
            <a:pPr algn="just">
              <a:lnSpc>
                <a:spcPct val="150000"/>
              </a:lnSpc>
            </a:pPr>
            <a:r>
              <a:rPr lang="en-US" b="1" dirty="0">
                <a:latin typeface="Times New Roman" panose="02020603050405020304" pitchFamily="18" charset="0"/>
                <a:cs typeface="Times New Roman" panose="02020603050405020304" pitchFamily="18" charset="0"/>
              </a:rPr>
              <a:t>Critical Path:</a:t>
            </a:r>
            <a:r>
              <a:rPr lang="en-US" dirty="0">
                <a:latin typeface="Times New Roman" panose="02020603050405020304" pitchFamily="18" charset="0"/>
                <a:cs typeface="Times New Roman" panose="02020603050405020304" pitchFamily="18" charset="0"/>
              </a:rPr>
              <a:t> The edges in the critical path are highlighted in red.</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683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B126A-4CF0-8EAE-A5C9-303832B6E14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01E04682-6096-2533-6932-9194E1833AE0}"/>
              </a:ext>
            </a:extLst>
          </p:cNvPr>
          <p:cNvSpPr>
            <a:spLocks noGrp="1"/>
          </p:cNvSpPr>
          <p:nvPr>
            <p:ph idx="1"/>
          </p:nvPr>
        </p:nvSpPr>
        <p:spPr/>
        <p:txBody>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6. Displaying Task Data:</a:t>
            </a:r>
          </a:p>
          <a:p>
            <a:pPr algn="just">
              <a:lnSpc>
                <a:spcPct val="150000"/>
              </a:lnSpc>
            </a:pPr>
            <a:r>
              <a:rPr lang="en-US" dirty="0">
                <a:latin typeface="Times New Roman" panose="02020603050405020304" pitchFamily="18" charset="0"/>
                <a:cs typeface="Times New Roman" panose="02020603050405020304" pitchFamily="18" charset="0"/>
              </a:rPr>
              <a:t>After the PERT/CPM analysis, a Task Data Table is displayed showing the task ID, task name, and expected duration (in minutes).</a:t>
            </a:r>
          </a:p>
          <a:p>
            <a:pPr marL="0" indent="0" algn="just">
              <a:lnSpc>
                <a:spcPct val="150000"/>
              </a:lnSpc>
              <a:buNone/>
            </a:pPr>
            <a:r>
              <a:rPr lang="en-US" b="1" dirty="0">
                <a:latin typeface="Times New Roman" panose="02020603050405020304" pitchFamily="18" charset="0"/>
                <a:cs typeface="Times New Roman" panose="02020603050405020304" pitchFamily="18" charset="0"/>
              </a:rPr>
              <a:t>7. Resource Constraints Analysis:</a:t>
            </a:r>
          </a:p>
          <a:p>
            <a:pPr algn="just">
              <a:lnSpc>
                <a:spcPct val="150000"/>
              </a:lnSpc>
            </a:pPr>
            <a:r>
              <a:rPr lang="en-US" dirty="0">
                <a:latin typeface="Times New Roman" panose="02020603050405020304" pitchFamily="18" charset="0"/>
                <a:cs typeface="Times New Roman" panose="02020603050405020304" pitchFamily="18" charset="0"/>
              </a:rPr>
              <a:t>Graph for Resource Constraints: A second directed graph is created to represent resource constraints on each task.</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8531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88BC8-F9A9-3F3F-4F00-7CE5013FC52E}"/>
              </a:ext>
            </a:extLst>
          </p:cNvPr>
          <p:cNvSpPr>
            <a:spLocks noGrp="1"/>
          </p:cNvSpPr>
          <p:nvPr>
            <p:ph type="title"/>
          </p:nvPr>
        </p:nvSpPr>
        <p:spPr>
          <a:xfrm>
            <a:off x="838200" y="18255"/>
            <a:ext cx="10515600" cy="1325563"/>
          </a:xfrm>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4D6931E0-82E2-2D8B-5962-8A9A10AC8B1A}"/>
              </a:ext>
            </a:extLst>
          </p:cNvPr>
          <p:cNvSpPr>
            <a:spLocks noGrp="1"/>
          </p:cNvSpPr>
          <p:nvPr>
            <p:ph idx="1"/>
          </p:nvPr>
        </p:nvSpPr>
        <p:spPr>
          <a:xfrm>
            <a:off x="838200" y="1103730"/>
            <a:ext cx="10515600" cy="5754269"/>
          </a:xfrm>
        </p:spPr>
        <p:txBody>
          <a:bodyPr>
            <a:noAutofit/>
          </a:bodyPr>
          <a:lstStyle/>
          <a:p>
            <a:pPr algn="just">
              <a:lnSpc>
                <a:spcPct val="170000"/>
              </a:lnSpc>
            </a:pPr>
            <a:r>
              <a:rPr lang="en-US" dirty="0">
                <a:latin typeface="Times New Roman" panose="02020603050405020304" pitchFamily="18" charset="0"/>
                <a:cs typeface="Times New Roman" panose="02020603050405020304" pitchFamily="18" charset="0"/>
              </a:rPr>
              <a:t>The nodes in this graph represent tasks, and additional information about delays (weather impact, seasonal delays, and constraint type) is added to the node attributes.</a:t>
            </a:r>
          </a:p>
        </p:txBody>
      </p:sp>
    </p:spTree>
    <p:extLst>
      <p:ext uri="{BB962C8B-B14F-4D97-AF65-F5344CB8AC3E}">
        <p14:creationId xmlns:p14="http://schemas.microsoft.com/office/powerpoint/2010/main" val="102467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6D074-1B78-131D-8053-5915CE37F4D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24A07B84-6CF4-B7B3-F899-3EC1A4DE2004}"/>
              </a:ext>
            </a:extLst>
          </p:cNvPr>
          <p:cNvSpPr>
            <a:spLocks noGrp="1"/>
          </p:cNvSpPr>
          <p:nvPr>
            <p:ph idx="1"/>
          </p:nvPr>
        </p:nvSpPr>
        <p:spPr/>
        <p:txBody>
          <a:bodyPr>
            <a:normAutofit lnSpcReduction="10000"/>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8. Displaying Resource Constraints Data:</a:t>
            </a:r>
          </a:p>
          <a:p>
            <a:pPr algn="just">
              <a:lnSpc>
                <a:spcPct val="150000"/>
              </a:lnSpc>
            </a:pPr>
            <a:r>
              <a:rPr lang="en-US" dirty="0">
                <a:latin typeface="Times New Roman" panose="02020603050405020304" pitchFamily="18" charset="0"/>
                <a:cs typeface="Times New Roman" panose="02020603050405020304" pitchFamily="18" charset="0"/>
              </a:rPr>
              <a:t>The resource constraints are also displayed in a table, showing for each task: </a:t>
            </a:r>
          </a:p>
          <a:p>
            <a:pPr algn="just">
              <a:lnSpc>
                <a:spcPct val="150000"/>
              </a:lnSpc>
            </a:pPr>
            <a:r>
              <a:rPr lang="en-US" dirty="0">
                <a:latin typeface="Times New Roman" panose="02020603050405020304" pitchFamily="18" charset="0"/>
                <a:cs typeface="Times New Roman" panose="02020603050405020304" pitchFamily="18" charset="0"/>
              </a:rPr>
              <a:t>Seasonal delays</a:t>
            </a:r>
          </a:p>
          <a:p>
            <a:pPr algn="just">
              <a:lnSpc>
                <a:spcPct val="150000"/>
              </a:lnSpc>
            </a:pPr>
            <a:r>
              <a:rPr lang="en-US" dirty="0">
                <a:latin typeface="Times New Roman" panose="02020603050405020304" pitchFamily="18" charset="0"/>
                <a:cs typeface="Times New Roman" panose="02020603050405020304" pitchFamily="18" charset="0"/>
              </a:rPr>
              <a:t>Weather impact on duration</a:t>
            </a:r>
          </a:p>
          <a:p>
            <a:pPr algn="just">
              <a:lnSpc>
                <a:spcPct val="150000"/>
              </a:lnSpc>
            </a:pPr>
            <a:r>
              <a:rPr lang="en-US" dirty="0">
                <a:latin typeface="Times New Roman" panose="02020603050405020304" pitchFamily="18" charset="0"/>
                <a:cs typeface="Times New Roman" panose="02020603050405020304" pitchFamily="18" charset="0"/>
              </a:rPr>
              <a:t>Constraint type</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098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2722-7BB0-0377-F0ED-656FF09469FB}"/>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B80B9F88-F95D-B3BB-D2A2-F0900F193435}"/>
              </a:ext>
            </a:extLst>
          </p:cNvPr>
          <p:cNvSpPr>
            <a:spLocks noGrp="1"/>
          </p:cNvSpPr>
          <p:nvPr>
            <p:ph idx="1"/>
          </p:nvPr>
        </p:nvSpPr>
        <p:spPr/>
        <p:txBody>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9. Visual Outputs:</a:t>
            </a:r>
          </a:p>
          <a:p>
            <a:pPr algn="just">
              <a:lnSpc>
                <a:spcPct val="150000"/>
              </a:lnSpc>
            </a:pPr>
            <a:r>
              <a:rPr lang="en-US" dirty="0">
                <a:latin typeface="Times New Roman" panose="02020603050405020304" pitchFamily="18" charset="0"/>
                <a:cs typeface="Times New Roman" panose="02020603050405020304" pitchFamily="18" charset="0"/>
              </a:rPr>
              <a:t>Two visual outputs are generated: </a:t>
            </a:r>
          </a:p>
          <a:p>
            <a:pPr algn="just">
              <a:lnSpc>
                <a:spcPct val="150000"/>
              </a:lnSpc>
            </a:pPr>
            <a:r>
              <a:rPr lang="en-US" b="1" dirty="0">
                <a:latin typeface="Times New Roman" panose="02020603050405020304" pitchFamily="18" charset="0"/>
                <a:cs typeface="Times New Roman" panose="02020603050405020304" pitchFamily="18" charset="0"/>
              </a:rPr>
              <a:t>Graph 1 (PERT-CPM Network):</a:t>
            </a:r>
            <a:r>
              <a:rPr lang="en-US" dirty="0">
                <a:latin typeface="Times New Roman" panose="02020603050405020304" pitchFamily="18" charset="0"/>
                <a:cs typeface="Times New Roman" panose="02020603050405020304" pitchFamily="18" charset="0"/>
              </a:rPr>
              <a:t> Displays the task dependencies, critical path, and task durations.</a:t>
            </a:r>
          </a:p>
          <a:p>
            <a:pPr algn="just">
              <a:lnSpc>
                <a:spcPct val="150000"/>
              </a:lnSpc>
            </a:pPr>
            <a:r>
              <a:rPr lang="en-US" b="1" dirty="0">
                <a:latin typeface="Times New Roman" panose="02020603050405020304" pitchFamily="18" charset="0"/>
                <a:cs typeface="Times New Roman" panose="02020603050405020304" pitchFamily="18" charset="0"/>
              </a:rPr>
              <a:t>Graph 2 (Resource Constraints Network): </a:t>
            </a:r>
            <a:r>
              <a:rPr lang="en-US" dirty="0">
                <a:latin typeface="Times New Roman" panose="02020603050405020304" pitchFamily="18" charset="0"/>
                <a:cs typeface="Times New Roman" panose="02020603050405020304" pitchFamily="18" charset="0"/>
              </a:rPr>
              <a:t>Displays the impact of resource constraints on the tasks.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496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3C373-580F-C329-4F2C-D61183E97866}"/>
              </a:ext>
            </a:extLst>
          </p:cNvPr>
          <p:cNvSpPr>
            <a:spLocks noGrp="1"/>
          </p:cNvSpPr>
          <p:nvPr>
            <p:ph type="title"/>
          </p:nvPr>
        </p:nvSpPr>
        <p:spPr>
          <a:xfrm>
            <a:off x="838200" y="42861"/>
            <a:ext cx="10515600" cy="1325563"/>
          </a:xfrm>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p>
        </p:txBody>
      </p:sp>
      <p:sp>
        <p:nvSpPr>
          <p:cNvPr id="3" name="Content Placeholder 2">
            <a:extLst>
              <a:ext uri="{FF2B5EF4-FFF2-40B4-BE49-F238E27FC236}">
                <a16:creationId xmlns:a16="http://schemas.microsoft.com/office/drawing/2014/main" id="{583C0579-0C85-F066-7D4B-71736596C13F}"/>
              </a:ext>
            </a:extLst>
          </p:cNvPr>
          <p:cNvSpPr>
            <a:spLocks noGrp="1"/>
          </p:cNvSpPr>
          <p:nvPr>
            <p:ph idx="1"/>
          </p:nvPr>
        </p:nvSpPr>
        <p:spPr>
          <a:xfrm>
            <a:off x="838200" y="1091698"/>
            <a:ext cx="10515600" cy="5723441"/>
          </a:xfrm>
        </p:spPr>
        <p:txBody>
          <a:bodyPr>
            <a:normAutofit fontScale="92500" lnSpcReduction="20000"/>
          </a:bodyPr>
          <a:lstStyle/>
          <a:p>
            <a:pPr marL="0" indent="0" algn="just">
              <a:lnSpc>
                <a:spcPct val="170000"/>
              </a:lnSpc>
              <a:buNone/>
            </a:pPr>
            <a:r>
              <a:rPr lang="en-US" b="1" dirty="0">
                <a:latin typeface="Times New Roman" panose="02020603050405020304" pitchFamily="18" charset="0"/>
                <a:cs typeface="Times New Roman" panose="02020603050405020304" pitchFamily="18" charset="0"/>
              </a:rPr>
              <a:t>10. Summary: </a:t>
            </a:r>
          </a:p>
          <a:p>
            <a:pPr algn="just">
              <a:lnSpc>
                <a:spcPct val="170000"/>
              </a:lnSpc>
            </a:pPr>
            <a:r>
              <a:rPr lang="en-US" dirty="0">
                <a:latin typeface="Times New Roman" panose="02020603050405020304" pitchFamily="18" charset="0"/>
                <a:cs typeface="Times New Roman" panose="02020603050405020304" pitchFamily="18" charset="0"/>
              </a:rPr>
              <a:t>After visualizing the graphs, the project provides a detailed summary: </a:t>
            </a:r>
          </a:p>
          <a:p>
            <a:pPr algn="just">
              <a:lnSpc>
                <a:spcPct val="170000"/>
              </a:lnSpc>
            </a:pPr>
            <a:r>
              <a:rPr lang="en-US" dirty="0">
                <a:latin typeface="Times New Roman" panose="02020603050405020304" pitchFamily="18" charset="0"/>
                <a:cs typeface="Times New Roman" panose="02020603050405020304" pitchFamily="18" charset="0"/>
              </a:rPr>
              <a:t>The Critical Path of the project is displayed as a sequence of tasks.</a:t>
            </a:r>
          </a:p>
          <a:p>
            <a:pPr algn="just">
              <a:lnSpc>
                <a:spcPct val="170000"/>
              </a:lnSpc>
            </a:pPr>
            <a:r>
              <a:rPr lang="en-US" dirty="0">
                <a:latin typeface="Times New Roman" panose="02020603050405020304" pitchFamily="18" charset="0"/>
                <a:cs typeface="Times New Roman" panose="02020603050405020304" pitchFamily="18" charset="0"/>
              </a:rPr>
              <a:t>The Critical Path Length (in minutes) is shown, indicating the total project duration.</a:t>
            </a:r>
          </a:p>
          <a:p>
            <a:pPr algn="just">
              <a:lnSpc>
                <a:spcPct val="170000"/>
              </a:lnSpc>
            </a:pPr>
            <a:r>
              <a:rPr lang="en-US" dirty="0">
                <a:latin typeface="Times New Roman" panose="02020603050405020304" pitchFamily="18" charset="0"/>
                <a:cs typeface="Times New Roman" panose="02020603050405020304" pitchFamily="18" charset="0"/>
              </a:rPr>
              <a:t>A Task Data Table lists all tasks </a:t>
            </a:r>
            <a:r>
              <a:rPr lang="en-US" sz="3000" dirty="0">
                <a:latin typeface="Times New Roman" panose="02020603050405020304" pitchFamily="18" charset="0"/>
                <a:cs typeface="Times New Roman" panose="02020603050405020304" pitchFamily="18" charset="0"/>
              </a:rPr>
              <a:t>along</a:t>
            </a:r>
            <a:r>
              <a:rPr lang="en-US" dirty="0">
                <a:latin typeface="Times New Roman" panose="02020603050405020304" pitchFamily="18" charset="0"/>
                <a:cs typeface="Times New Roman" panose="02020603050405020304" pitchFamily="18" charset="0"/>
              </a:rPr>
              <a:t> with their expected durations.</a:t>
            </a:r>
          </a:p>
          <a:p>
            <a:pPr algn="just">
              <a:lnSpc>
                <a:spcPct val="170000"/>
              </a:lnSpc>
            </a:pPr>
            <a:r>
              <a:rPr lang="en-US" dirty="0">
                <a:latin typeface="Times New Roman" panose="02020603050405020304" pitchFamily="18" charset="0"/>
                <a:cs typeface="Times New Roman" panose="02020603050405020304" pitchFamily="18" charset="0"/>
              </a:rPr>
              <a:t>A Resource Constraints Table provides detailed information about resource-related delays and constraints.</a:t>
            </a:r>
          </a:p>
          <a:p>
            <a:pPr algn="just">
              <a:lnSpc>
                <a:spcPct val="17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264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761DF-321B-94CA-8687-87E62D1493D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82F209-0722-D169-8C63-C64DD41DED86}"/>
              </a:ext>
            </a:extLst>
          </p:cNvPr>
          <p:cNvSpPr>
            <a:spLocks noGrp="1"/>
          </p:cNvSpPr>
          <p:nvPr>
            <p:ph idx="1"/>
          </p:nvPr>
        </p:nvSpPr>
        <p:spPr>
          <a:xfrm>
            <a:off x="838200" y="1404520"/>
            <a:ext cx="10515600" cy="5453480"/>
          </a:xfrm>
        </p:spPr>
        <p:txBody>
          <a:bodyPr/>
          <a:lstStyle/>
          <a:p>
            <a:r>
              <a:rPr lang="en-US" b="1" dirty="0"/>
              <a:t>File structure:</a:t>
            </a:r>
          </a:p>
          <a:p>
            <a:pPr marL="0" indent="0">
              <a:buNone/>
            </a:pPr>
            <a:endParaRPr lang="en-IN" b="1" dirty="0"/>
          </a:p>
        </p:txBody>
      </p:sp>
      <p:pic>
        <p:nvPicPr>
          <p:cNvPr id="5" name="Picture 4">
            <a:extLst>
              <a:ext uri="{FF2B5EF4-FFF2-40B4-BE49-F238E27FC236}">
                <a16:creationId xmlns:a16="http://schemas.microsoft.com/office/drawing/2014/main" id="{3BD4E3FC-7E91-D013-CB07-176D70530F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79" y="1969928"/>
            <a:ext cx="11887200" cy="4888071"/>
          </a:xfrm>
          <a:prstGeom prst="rect">
            <a:avLst/>
          </a:prstGeom>
        </p:spPr>
      </p:pic>
    </p:spTree>
    <p:extLst>
      <p:ext uri="{BB962C8B-B14F-4D97-AF65-F5344CB8AC3E}">
        <p14:creationId xmlns:p14="http://schemas.microsoft.com/office/powerpoint/2010/main" val="1111071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2F4D65-B6A4-88FD-BBBE-50858F1965F2}"/>
              </a:ext>
            </a:extLst>
          </p:cNvPr>
          <p:cNvSpPr>
            <a:spLocks noGrp="1"/>
          </p:cNvSpPr>
          <p:nvPr>
            <p:ph type="title"/>
          </p:nvPr>
        </p:nvSpPr>
        <p:spPr>
          <a:xfrm>
            <a:off x="838199" y="0"/>
            <a:ext cx="10515600" cy="1325563"/>
          </a:xfrm>
        </p:spPr>
        <p:txBody>
          <a:bodyPr/>
          <a:lstStyle/>
          <a:p>
            <a:pPr algn="ctr"/>
            <a:r>
              <a:rPr lang="en-US" b="1" dirty="0">
                <a:latin typeface="Times New Roman" panose="02020603050405020304" pitchFamily="18" charset="0"/>
                <a:cs typeface="Times New Roman" panose="02020603050405020304" pitchFamily="18" charset="0"/>
              </a:rPr>
              <a:t>OUTPUT</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75715F2-7848-157D-CDC5-874EB9588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18572"/>
            <a:ext cx="12191999" cy="5839428"/>
          </a:xfrm>
          <a:prstGeom prst="rect">
            <a:avLst/>
          </a:prstGeom>
        </p:spPr>
      </p:pic>
    </p:spTree>
    <p:extLst>
      <p:ext uri="{BB962C8B-B14F-4D97-AF65-F5344CB8AC3E}">
        <p14:creationId xmlns:p14="http://schemas.microsoft.com/office/powerpoint/2010/main" val="352814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B86447-8DD2-CFFA-B5D5-5FD94EC1E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44810"/>
          </a:xfrm>
          <a:prstGeom prst="rect">
            <a:avLst/>
          </a:prstGeom>
        </p:spPr>
      </p:pic>
    </p:spTree>
    <p:extLst>
      <p:ext uri="{BB962C8B-B14F-4D97-AF65-F5344CB8AC3E}">
        <p14:creationId xmlns:p14="http://schemas.microsoft.com/office/powerpoint/2010/main" val="391042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2C8A16-754B-2B4C-80E8-F92B9D07E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591048"/>
          </a:xfrm>
          <a:prstGeom prst="rect">
            <a:avLst/>
          </a:prstGeom>
        </p:spPr>
      </p:pic>
    </p:spTree>
    <p:extLst>
      <p:ext uri="{BB962C8B-B14F-4D97-AF65-F5344CB8AC3E}">
        <p14:creationId xmlns:p14="http://schemas.microsoft.com/office/powerpoint/2010/main" val="84030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EE5320-8ED0-7D8A-162E-41B72258B3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61077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8D7B-6EB0-0DCB-3683-1342D3175327}"/>
              </a:ext>
            </a:extLst>
          </p:cNvPr>
          <p:cNvSpPr>
            <a:spLocks noGrp="1"/>
          </p:cNvSpPr>
          <p:nvPr>
            <p:ph type="title"/>
          </p:nvPr>
        </p:nvSpPr>
        <p:spPr>
          <a:xfrm>
            <a:off x="838200" y="18255"/>
            <a:ext cx="10515600" cy="1325563"/>
          </a:xfrm>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998D3C-E4DA-B542-81E1-3549200E7B91}"/>
              </a:ext>
            </a:extLst>
          </p:cNvPr>
          <p:cNvSpPr>
            <a:spLocks noGrp="1"/>
          </p:cNvSpPr>
          <p:nvPr>
            <p:ph idx="1"/>
          </p:nvPr>
        </p:nvSpPr>
        <p:spPr>
          <a:xfrm>
            <a:off x="838200" y="1163888"/>
            <a:ext cx="10515600" cy="4960186"/>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provides a clear, structured approach to analyzing project tasks and constraints, visualizing dependencies, and identifying critical path.</a:t>
            </a:r>
          </a:p>
          <a:p>
            <a:pPr algn="just">
              <a:lnSpc>
                <a:spcPct val="150000"/>
              </a:lnSpc>
            </a:pPr>
            <a:r>
              <a:rPr lang="en-US" dirty="0">
                <a:latin typeface="Times New Roman" panose="02020603050405020304" pitchFamily="18" charset="0"/>
                <a:cs typeface="Times New Roman" panose="02020603050405020304" pitchFamily="18" charset="0"/>
              </a:rPr>
              <a:t>The graphical representation allows for easy identification of potential bottlenecks or risks in the project timeline due to resource constraints, enabling better decision-making in project planning and management.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76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A010-98D7-C459-55D5-E376EE81281D}"/>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FA8222-A6BA-74DF-A861-9ED9D865E276}"/>
              </a:ext>
            </a:extLst>
          </p:cNvPr>
          <p:cNvSpPr>
            <a:spLocks noGrp="1"/>
          </p:cNvSpPr>
          <p:nvPr>
            <p:ph idx="1"/>
          </p:nvPr>
        </p:nvSpPr>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1. Kerzner, H. (2017). Project Management: A Systems Approach to Planning, Scheduling, and Controlling. John Wiley &amp; Sons.</a:t>
            </a:r>
          </a:p>
          <a:p>
            <a:pPr marL="0" indent="0" algn="just">
              <a:lnSpc>
                <a:spcPct val="150000"/>
              </a:lnSpc>
              <a:buNone/>
            </a:pPr>
            <a:r>
              <a:rPr lang="en-US" dirty="0">
                <a:latin typeface="Times New Roman" panose="02020603050405020304" pitchFamily="18" charset="0"/>
                <a:cs typeface="Times New Roman" panose="02020603050405020304" pitchFamily="18" charset="0"/>
              </a:rPr>
              <a:t>2. Williams, T. (2016). Managing Project Risks and Uncertainty. Wiley-Blackwell.</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94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TotalTime>
  <Words>1243</Words>
  <Application>Microsoft Office PowerPoint</Application>
  <PresentationFormat>Widescreen</PresentationFormat>
  <Paragraphs>102</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PowerPoint Presentation</vt:lpstr>
      <vt:lpstr>Abstract</vt:lpstr>
      <vt:lpstr>Abstract</vt:lpstr>
      <vt:lpstr>Introduction</vt:lpstr>
      <vt:lpstr>Introduction</vt:lpstr>
      <vt:lpstr>Objective</vt:lpstr>
      <vt:lpstr>Constraints </vt:lpstr>
      <vt:lpstr>Review of literature</vt:lpstr>
      <vt:lpstr>Review of literature</vt:lpstr>
      <vt:lpstr>Land Acquisition Status For Bullet Train Project</vt:lpstr>
      <vt:lpstr>PowerPoint Presentation</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OUTPUT</vt:lpstr>
      <vt:lpstr>PowerPoint Presentation</vt:lpstr>
      <vt:lpstr>PowerPoint Presentation</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ABHIJEET ROUTH</dc:creator>
  <cp:lastModifiedBy>daivik raval</cp:lastModifiedBy>
  <cp:revision>31</cp:revision>
  <dcterms:created xsi:type="dcterms:W3CDTF">2025-01-08T09:14:39Z</dcterms:created>
  <dcterms:modified xsi:type="dcterms:W3CDTF">2025-02-24T07:21:11Z</dcterms:modified>
</cp:coreProperties>
</file>